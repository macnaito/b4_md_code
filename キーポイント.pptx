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1"/>
  </p:sldMasterIdLst>
  <p:notesMasterIdLst>
    <p:notesMasterId r:id="rId6"/>
  </p:notesMasterIdLst>
  <p:handoutMasterIdLst>
    <p:handoutMasterId r:id="rId7"/>
  </p:handoutMasterIdLst>
  <p:sldIdLst>
    <p:sldId id="273" r:id="rId2"/>
    <p:sldId id="274" r:id="rId3"/>
    <p:sldId id="275" r:id="rId4"/>
    <p:sldId id="276" r:id="rId5"/>
  </p:sldIdLst>
  <p:sldSz cx="9906000" cy="6858000" type="A4"/>
  <p:notesSz cx="6858000" cy="9144000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" pitchFamily="-106" charset="0"/>
        <a:ea typeface="ＭＳ Ｐゴシック" pitchFamily="-106" charset="-128"/>
        <a:cs typeface="ＭＳ Ｐゴシック" pitchFamily="-106" charset="-128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" pitchFamily="-106" charset="0"/>
        <a:ea typeface="ＭＳ Ｐゴシック" pitchFamily="-106" charset="-128"/>
        <a:cs typeface="ＭＳ Ｐゴシック" pitchFamily="-106" charset="-128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" pitchFamily="-106" charset="0"/>
        <a:ea typeface="ＭＳ Ｐゴシック" pitchFamily="-106" charset="-128"/>
        <a:cs typeface="ＭＳ Ｐゴシック" pitchFamily="-106" charset="-128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" pitchFamily="-106" charset="0"/>
        <a:ea typeface="ＭＳ Ｐゴシック" pitchFamily="-106" charset="-128"/>
        <a:cs typeface="ＭＳ Ｐゴシック" pitchFamily="-106" charset="-128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" pitchFamily="-106" charset="0"/>
        <a:ea typeface="ＭＳ Ｐゴシック" pitchFamily="-106" charset="-128"/>
        <a:cs typeface="ＭＳ Ｐゴシック" pitchFamily="-106" charset="-128"/>
      </a:defRPr>
    </a:lvl5pPr>
    <a:lvl6pPr marL="2286000" algn="l" defTabSz="457200" rtl="0" eaLnBrk="1" latinLnBrk="0" hangingPunct="1"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" pitchFamily="-106" charset="0"/>
        <a:ea typeface="ＭＳ Ｐゴシック" pitchFamily="-106" charset="-128"/>
        <a:cs typeface="ＭＳ Ｐゴシック" pitchFamily="-106" charset="-128"/>
      </a:defRPr>
    </a:lvl6pPr>
    <a:lvl7pPr marL="2743200" algn="l" defTabSz="457200" rtl="0" eaLnBrk="1" latinLnBrk="0" hangingPunct="1"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" pitchFamily="-106" charset="0"/>
        <a:ea typeface="ＭＳ Ｐゴシック" pitchFamily="-106" charset="-128"/>
        <a:cs typeface="ＭＳ Ｐゴシック" pitchFamily="-106" charset="-128"/>
      </a:defRPr>
    </a:lvl7pPr>
    <a:lvl8pPr marL="3200400" algn="l" defTabSz="457200" rtl="0" eaLnBrk="1" latinLnBrk="0" hangingPunct="1"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" pitchFamily="-106" charset="0"/>
        <a:ea typeface="ＭＳ Ｐゴシック" pitchFamily="-106" charset="-128"/>
        <a:cs typeface="ＭＳ Ｐゴシック" pitchFamily="-106" charset="-128"/>
      </a:defRPr>
    </a:lvl8pPr>
    <a:lvl9pPr marL="3657600" algn="l" defTabSz="457200" rtl="0" eaLnBrk="1" latinLnBrk="0" hangingPunct="1"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" pitchFamily="-106" charset="0"/>
        <a:ea typeface="ＭＳ Ｐゴシック" pitchFamily="-106" charset="-128"/>
        <a:cs typeface="ＭＳ Ｐゴシック" pitchFamily="-106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0C42"/>
    <a:srgbClr val="B50555"/>
    <a:srgbClr val="FB1BA7"/>
    <a:srgbClr val="DCFFCB"/>
    <a:srgbClr val="FBFFAD"/>
    <a:srgbClr val="FFFFCD"/>
    <a:srgbClr val="C00009"/>
    <a:srgbClr val="100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46" autoAdjust="0"/>
    <p:restoredTop sz="94701" autoAdjust="0"/>
  </p:normalViewPr>
  <p:slideViewPr>
    <p:cSldViewPr>
      <p:cViewPr varScale="1">
        <p:scale>
          <a:sx n="121" d="100"/>
          <a:sy n="121" d="100"/>
        </p:scale>
        <p:origin x="1552" y="17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ffectLst>
                  <a:outerShdw blurRad="38100" dist="38100" dir="2700000" algn="tl">
                    <a:srgbClr val="DDDDDD"/>
                  </a:outerShdw>
                </a:effectLst>
              </a:defRPr>
            </a:lvl1pPr>
          </a:lstStyle>
          <a:p>
            <a:endParaRPr lang="en-US" altLang="ja-JP"/>
          </a:p>
        </p:txBody>
      </p:sp>
      <p:sp>
        <p:nvSpPr>
          <p:cNvPr id="153603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ffectLst>
                  <a:outerShdw blurRad="38100" dist="38100" dir="2700000" algn="tl">
                    <a:srgbClr val="DDDDDD"/>
                  </a:outerShdw>
                </a:effectLst>
              </a:defRPr>
            </a:lvl1pPr>
          </a:lstStyle>
          <a:p>
            <a:endParaRPr lang="en-US" altLang="ja-JP"/>
          </a:p>
        </p:txBody>
      </p:sp>
      <p:sp>
        <p:nvSpPr>
          <p:cNvPr id="153604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ffectLst>
                  <a:outerShdw blurRad="38100" dist="38100" dir="2700000" algn="tl">
                    <a:srgbClr val="DDDDDD"/>
                  </a:outerShdw>
                </a:effectLst>
              </a:defRPr>
            </a:lvl1pPr>
          </a:lstStyle>
          <a:p>
            <a:endParaRPr lang="en-US" altLang="ja-JP"/>
          </a:p>
        </p:txBody>
      </p:sp>
      <p:sp>
        <p:nvSpPr>
          <p:cNvPr id="153605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ffectLst>
                  <a:outerShdw blurRad="38100" dist="38100" dir="2700000" algn="tl">
                    <a:srgbClr val="DDDDDD"/>
                  </a:outerShdw>
                </a:effectLst>
              </a:defRPr>
            </a:lvl1pPr>
          </a:lstStyle>
          <a:p>
            <a:fld id="{E85486D0-C28A-9847-80B7-C0F00279BAEA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414400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ffectLst/>
                <a:ea typeface="Osaka" pitchFamily="-106" charset="-128"/>
                <a:cs typeface="Osaka" pitchFamily="-106" charset="-128"/>
              </a:defRPr>
            </a:lvl1pPr>
          </a:lstStyle>
          <a:p>
            <a:endParaRPr lang="en-US" altLang="ja-JP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ffectLst/>
                <a:ea typeface="Osaka" pitchFamily="-106" charset="-128"/>
                <a:cs typeface="Osaka" pitchFamily="-106" charset="-128"/>
              </a:defRPr>
            </a:lvl1pPr>
          </a:lstStyle>
          <a:p>
            <a:endParaRPr lang="en-US" altLang="ja-JP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2500" y="685800"/>
            <a:ext cx="4953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</a:t>
            </a:r>
            <a:r>
              <a:rPr lang="en-US" altLang="ja-JP"/>
              <a:t> </a:t>
            </a:r>
            <a:r>
              <a:rPr lang="ja-JP" altLang="en-US"/>
              <a:t>テキストの書式設定</a:t>
            </a:r>
            <a:endParaRPr lang="en-US" altLang="ja-JP"/>
          </a:p>
          <a:p>
            <a:pPr lvl="1"/>
            <a:r>
              <a:rPr lang="ja-JP" altLang="en-US"/>
              <a:t>第</a:t>
            </a:r>
            <a:r>
              <a:rPr lang="en-US" altLang="ja-JP"/>
              <a:t> 2 </a:t>
            </a:r>
            <a:r>
              <a:rPr lang="ja-JP" altLang="en-US"/>
              <a:t>レベル</a:t>
            </a:r>
            <a:endParaRPr lang="en-US" altLang="ja-JP"/>
          </a:p>
          <a:p>
            <a:pPr lvl="2"/>
            <a:r>
              <a:rPr lang="ja-JP" altLang="en-US"/>
              <a:t>第</a:t>
            </a:r>
            <a:r>
              <a:rPr lang="en-US" altLang="ja-JP"/>
              <a:t> 3 </a:t>
            </a:r>
            <a:r>
              <a:rPr lang="ja-JP" altLang="en-US"/>
              <a:t>レベル</a:t>
            </a:r>
            <a:endParaRPr lang="en-US" altLang="ja-JP"/>
          </a:p>
          <a:p>
            <a:pPr lvl="3"/>
            <a:r>
              <a:rPr lang="ja-JP" altLang="en-US"/>
              <a:t>第</a:t>
            </a:r>
            <a:r>
              <a:rPr lang="en-US" altLang="ja-JP"/>
              <a:t> 4 </a:t>
            </a:r>
            <a:r>
              <a:rPr lang="ja-JP" altLang="en-US"/>
              <a:t>レベル</a:t>
            </a:r>
            <a:endParaRPr lang="en-US" altLang="ja-JP"/>
          </a:p>
          <a:p>
            <a:pPr lvl="4"/>
            <a:r>
              <a:rPr lang="ja-JP" altLang="en-US"/>
              <a:t>第</a:t>
            </a:r>
            <a:r>
              <a:rPr lang="en-US" altLang="ja-JP"/>
              <a:t> 5 </a:t>
            </a:r>
            <a:r>
              <a:rPr lang="ja-JP" altLang="en-US"/>
              <a:t>レベル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ffectLst/>
                <a:ea typeface="Osaka" pitchFamily="-106" charset="-128"/>
                <a:cs typeface="Osaka" pitchFamily="-106" charset="-128"/>
              </a:defRPr>
            </a:lvl1pPr>
          </a:lstStyle>
          <a:p>
            <a:endParaRPr lang="en-US" altLang="ja-JP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ffectLst/>
                <a:ea typeface="Osaka" pitchFamily="-106" charset="-128"/>
                <a:cs typeface="Osaka" pitchFamily="-106" charset="-128"/>
              </a:defRPr>
            </a:lvl1pPr>
          </a:lstStyle>
          <a:p>
            <a:fld id="{4A151B4B-1DAF-D040-AB1C-20B1763452E2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377506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" pitchFamily="-112" charset="0"/>
        <a:ea typeface="Osaka" pitchFamily="-112" charset="-128"/>
        <a:cs typeface="Osaka" pitchFamily="-112" charset="-128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" pitchFamily="-112" charset="0"/>
        <a:ea typeface="Osaka" pitchFamily="-112" charset="-128"/>
        <a:cs typeface="Osaka" pitchFamily="-112" charset="-128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" pitchFamily="-112" charset="0"/>
        <a:ea typeface="Osaka" pitchFamily="-112" charset="-128"/>
        <a:cs typeface="Osaka" pitchFamily="-112" charset="-128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" pitchFamily="-112" charset="0"/>
        <a:ea typeface="Osaka" pitchFamily="-112" charset="-128"/>
        <a:cs typeface="Osaka" pitchFamily="-112" charset="-128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" pitchFamily="-112" charset="0"/>
        <a:ea typeface="Osaka" pitchFamily="-112" charset="-128"/>
        <a:cs typeface="Osaka" pitchFamily="-112" charset="-128"/>
      </a:defRPr>
    </a:lvl5pPr>
    <a:lvl6pPr marL="22860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9F9A8CC-92DA-9F49-A8CD-A4BC0C2B8B37}" type="slidenum">
              <a:rPr lang="en-US" altLang="ja-JP"/>
              <a:pPr/>
              <a:t>1</a:t>
            </a:fld>
            <a:endParaRPr lang="en-US" altLang="ja-JP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ja-JP" altLang="en-US">
              <a:latin typeface="Times" pitchFamily="-106" charset="0"/>
              <a:ea typeface="Osaka" pitchFamily="-106" charset="-128"/>
              <a:cs typeface="Osaka" pitchFamily="-106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9F9A8CC-92DA-9F49-A8CD-A4BC0C2B8B37}" type="slidenum">
              <a:rPr lang="en-US" altLang="ja-JP"/>
              <a:pPr/>
              <a:t>2</a:t>
            </a:fld>
            <a:endParaRPr lang="en-US" altLang="ja-JP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ja-JP" altLang="en-US">
              <a:latin typeface="Times" pitchFamily="-106" charset="0"/>
              <a:ea typeface="Osaka" pitchFamily="-106" charset="-128"/>
              <a:cs typeface="Osaka" pitchFamily="-106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9F9A8CC-92DA-9F49-A8CD-A4BC0C2B8B37}" type="slidenum">
              <a:rPr lang="en-US" altLang="ja-JP"/>
              <a:pPr/>
              <a:t>3</a:t>
            </a:fld>
            <a:endParaRPr lang="en-US" altLang="ja-JP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ja-JP" altLang="en-US">
              <a:latin typeface="Times" pitchFamily="-106" charset="0"/>
              <a:ea typeface="Osaka" pitchFamily="-106" charset="-128"/>
              <a:cs typeface="Osaka" pitchFamily="-106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9F9A8CC-92DA-9F49-A8CD-A4BC0C2B8B37}" type="slidenum">
              <a:rPr lang="en-US" altLang="ja-JP"/>
              <a:pPr/>
              <a:t>4</a:t>
            </a:fld>
            <a:endParaRPr lang="en-US" altLang="ja-JP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ja-JP" altLang="en-US">
              <a:latin typeface="Times" pitchFamily="-106" charset="0"/>
              <a:ea typeface="Osaka" pitchFamily="-106" charset="-128"/>
              <a:cs typeface="Osaka" pitchFamily="-10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80007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3F372E-413D-0546-BD5F-86DD7CCA5C42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2B99B1-45E2-AE40-BA4D-C31059EB3556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 ヘッダ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BF7851-E161-4646-A996-2134B2D567EA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742950" y="1981200"/>
            <a:ext cx="413385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5029200" y="1981200"/>
            <a:ext cx="413385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A875A2-D06F-9846-A3C5-497D951492FF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151AF4-C738-A74C-9DE8-138EE0FA4146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20F319-9AD2-8448-AA41-A52C503C32DD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A91221-6354-6047-8EC1-29CEEC052BA1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C54B12-365B-C142-BEBF-EC5FD7112811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と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C8384B-BA7D-B541-B1A1-37029CD21F00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078AAE-7F0E-2D4D-AAE8-FF587424458C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/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058025" y="609600"/>
            <a:ext cx="2105025" cy="5486400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742950" y="609600"/>
            <a:ext cx="6162675" cy="5486400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29BBF7-7C93-5146-8AD7-1E5486029648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タイトル、テキスト、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42950" y="609600"/>
            <a:ext cx="8420100" cy="1143000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sz="half" idx="1"/>
          </p:nvPr>
        </p:nvSpPr>
        <p:spPr>
          <a:xfrm>
            <a:off x="742950" y="1981200"/>
            <a:ext cx="4133850" cy="4114800"/>
          </a:xfrm>
        </p:spPr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5029200" y="1981200"/>
            <a:ext cx="4133850" cy="4114800"/>
          </a:xfrm>
        </p:spPr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E7C0F3-FE59-484D-8919-DFB55FE5F84E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42950" y="609600"/>
            <a:ext cx="84201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</a:t>
            </a:r>
            <a:r>
              <a:rPr lang="en-US" altLang="ja-JP"/>
              <a:t> </a:t>
            </a:r>
            <a:r>
              <a:rPr lang="ja-JP" altLang="en-US"/>
              <a:t>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2950" y="1981200"/>
            <a:ext cx="84201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</a:t>
            </a:r>
            <a:r>
              <a:rPr lang="en-US" altLang="ja-JP"/>
              <a:t> </a:t>
            </a:r>
            <a:r>
              <a:rPr lang="ja-JP" altLang="en-US"/>
              <a:t>テキストの書式設定</a:t>
            </a:r>
            <a:endParaRPr lang="en-US" altLang="ja-JP"/>
          </a:p>
          <a:p>
            <a:pPr lvl="1"/>
            <a:r>
              <a:rPr lang="ja-JP" altLang="en-US"/>
              <a:t>第</a:t>
            </a:r>
            <a:r>
              <a:rPr lang="en-US" altLang="ja-JP"/>
              <a:t> 2 </a:t>
            </a:r>
            <a:r>
              <a:rPr lang="ja-JP" altLang="en-US"/>
              <a:t>レベル</a:t>
            </a:r>
            <a:endParaRPr lang="en-US" altLang="ja-JP"/>
          </a:p>
          <a:p>
            <a:pPr lvl="2"/>
            <a:r>
              <a:rPr lang="ja-JP" altLang="en-US"/>
              <a:t>第</a:t>
            </a:r>
            <a:r>
              <a:rPr lang="en-US" altLang="ja-JP"/>
              <a:t> 3 </a:t>
            </a:r>
            <a:r>
              <a:rPr lang="ja-JP" altLang="en-US"/>
              <a:t>レベル</a:t>
            </a:r>
            <a:endParaRPr lang="en-US" altLang="ja-JP"/>
          </a:p>
          <a:p>
            <a:pPr lvl="3"/>
            <a:r>
              <a:rPr lang="ja-JP" altLang="en-US"/>
              <a:t>第</a:t>
            </a:r>
            <a:r>
              <a:rPr lang="en-US" altLang="ja-JP"/>
              <a:t> 4 </a:t>
            </a:r>
            <a:r>
              <a:rPr lang="ja-JP" altLang="en-US"/>
              <a:t>レベル</a:t>
            </a:r>
            <a:endParaRPr lang="en-US" altLang="ja-JP"/>
          </a:p>
          <a:p>
            <a:pPr lvl="4"/>
            <a:r>
              <a:rPr lang="ja-JP" altLang="en-US"/>
              <a:t>第</a:t>
            </a:r>
            <a:r>
              <a:rPr lang="en-US" altLang="ja-JP"/>
              <a:t> 5 </a:t>
            </a:r>
            <a:r>
              <a:rPr lang="ja-JP" altLang="en-US"/>
              <a:t>レベル</a:t>
            </a:r>
          </a:p>
        </p:txBody>
      </p:sp>
      <p:sp>
        <p:nvSpPr>
          <p:cNvPr id="6963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42950" y="6248400"/>
            <a:ext cx="2063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kumimoji="0" sz="1400">
                <a:effectLst/>
                <a:ea typeface="Osaka" pitchFamily="-106" charset="-128"/>
                <a:cs typeface="Osaka" pitchFamily="-106" charset="-128"/>
              </a:defRPr>
            </a:lvl1pPr>
          </a:lstStyle>
          <a:p>
            <a:endParaRPr lang="en-US" altLang="ja-JP"/>
          </a:p>
        </p:txBody>
      </p:sp>
      <p:sp>
        <p:nvSpPr>
          <p:cNvPr id="6963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248400"/>
            <a:ext cx="3136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kumimoji="0" sz="1400">
                <a:effectLst/>
                <a:ea typeface="Osaka" pitchFamily="-106" charset="-128"/>
                <a:cs typeface="Osaka" pitchFamily="-106" charset="-128"/>
              </a:defRPr>
            </a:lvl1pPr>
          </a:lstStyle>
          <a:p>
            <a:endParaRPr lang="en-US" altLang="ja-JP"/>
          </a:p>
        </p:txBody>
      </p:sp>
      <p:sp>
        <p:nvSpPr>
          <p:cNvPr id="6963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248400"/>
            <a:ext cx="2063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kumimoji="0" sz="1400">
                <a:effectLst/>
                <a:ea typeface="Osaka" pitchFamily="-106" charset="-128"/>
                <a:cs typeface="Osaka" pitchFamily="-106" charset="-128"/>
              </a:defRPr>
            </a:lvl1pPr>
          </a:lstStyle>
          <a:p>
            <a:fld id="{48C7EA37-CBA5-4042-AB09-14FB0625A278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Osaka" pitchFamily="-112" charset="-128"/>
          <a:ea typeface="Osaka" pitchFamily="-112" charset="-128"/>
          <a:cs typeface="Osaka" pitchFamily="-112" charset="-128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Osaka" pitchFamily="-112" charset="-128"/>
          <a:ea typeface="Osaka" pitchFamily="-112" charset="-128"/>
          <a:cs typeface="Osaka" pitchFamily="-112" charset="-128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Osaka" pitchFamily="-112" charset="-128"/>
          <a:ea typeface="Osaka" pitchFamily="-112" charset="-128"/>
          <a:cs typeface="Osaka" pitchFamily="-112" charset="-128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Osaka" pitchFamily="-112" charset="-128"/>
          <a:ea typeface="Osaka" pitchFamily="-112" charset="-128"/>
          <a:cs typeface="Osaka" pitchFamily="-112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Osaka" pitchFamily="-112" charset="-128"/>
          <a:ea typeface="Osaka" pitchFamily="-112" charset="-128"/>
          <a:cs typeface="Osaka" pitchFamily="-112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Osaka" pitchFamily="-112" charset="-128"/>
          <a:ea typeface="Osaka" pitchFamily="-112" charset="-128"/>
          <a:cs typeface="Osaka" pitchFamily="-112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Osaka" pitchFamily="-112" charset="-128"/>
          <a:ea typeface="Osaka" pitchFamily="-112" charset="-128"/>
          <a:cs typeface="Osaka" pitchFamily="-112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Osaka" pitchFamily="-112" charset="-128"/>
          <a:ea typeface="Osaka" pitchFamily="-112" charset="-128"/>
          <a:cs typeface="Osaka" pitchFamily="-112" charset="-128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emf"/><Relationship Id="rId11" Type="http://schemas.openxmlformats.org/officeDocument/2006/relationships/image" Target="../media/image8.emf"/><Relationship Id="rId5" Type="http://schemas.openxmlformats.org/officeDocument/2006/relationships/oleObject" Target="../embeddings/oleObject5.bin"/><Relationship Id="rId10" Type="http://schemas.openxmlformats.org/officeDocument/2006/relationships/oleObject" Target="../embeddings/oleObject7.bin"/><Relationship Id="rId4" Type="http://schemas.openxmlformats.org/officeDocument/2006/relationships/image" Target="../media/image4.emf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830" name="Group 13"/>
          <p:cNvGrpSpPr>
            <a:grpSpLocks/>
          </p:cNvGrpSpPr>
          <p:nvPr/>
        </p:nvGrpSpPr>
        <p:grpSpPr bwMode="auto">
          <a:xfrm>
            <a:off x="0" y="762000"/>
            <a:ext cx="9910763" cy="82550"/>
            <a:chOff x="-2" y="408"/>
            <a:chExt cx="6243" cy="52"/>
          </a:xfrm>
        </p:grpSpPr>
        <p:sp>
          <p:nvSpPr>
            <p:cNvPr id="74766" name="Rectangle 14"/>
            <p:cNvSpPr>
              <a:spLocks noChangeArrowheads="1"/>
            </p:cNvSpPr>
            <p:nvPr/>
          </p:nvSpPr>
          <p:spPr bwMode="auto">
            <a:xfrm>
              <a:off x="-2" y="408"/>
              <a:ext cx="6232" cy="25"/>
            </a:xfrm>
            <a:prstGeom prst="rect">
              <a:avLst/>
            </a:prstGeom>
            <a:solidFill>
              <a:srgbClr val="FC0128"/>
            </a:solidFill>
            <a:ln w="12700">
              <a:solidFill>
                <a:srgbClr val="FC0128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ja-JP" altLang="en-US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74767" name="Rectangle 15"/>
            <p:cNvSpPr>
              <a:spLocks noChangeArrowheads="1"/>
            </p:cNvSpPr>
            <p:nvPr/>
          </p:nvSpPr>
          <p:spPr bwMode="auto">
            <a:xfrm flipV="1">
              <a:off x="0" y="433"/>
              <a:ext cx="6241" cy="27"/>
            </a:xfrm>
            <a:prstGeom prst="rect">
              <a:avLst/>
            </a:prstGeom>
            <a:solidFill>
              <a:srgbClr val="063DE8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ja-JP" altLang="en-US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</p:grpSp>
      <p:sp>
        <p:nvSpPr>
          <p:cNvPr id="14" name="テキスト ボックス 13"/>
          <p:cNvSpPr txBox="1"/>
          <p:nvPr/>
        </p:nvSpPr>
        <p:spPr>
          <a:xfrm>
            <a:off x="304800" y="3733800"/>
            <a:ext cx="45616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rgbClr val="0000FF"/>
                </a:solidFill>
              </a:rPr>
              <a:t>Velocity-</a:t>
            </a:r>
            <a:r>
              <a:rPr kumimoji="1" lang="en-US" altLang="ja-JP" dirty="0" err="1">
                <a:solidFill>
                  <a:srgbClr val="0000FF"/>
                </a:solidFill>
              </a:rPr>
              <a:t>Verlet</a:t>
            </a:r>
            <a:r>
              <a:rPr kumimoji="1" lang="ja-JP" altLang="en-US" dirty="0">
                <a:solidFill>
                  <a:srgbClr val="0000FF"/>
                </a:solidFill>
              </a:rPr>
              <a:t>法による時間変化：</a:t>
            </a: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3886200" y="131802"/>
            <a:ext cx="238178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000" dirty="0"/>
              <a:t>キーポイント</a:t>
            </a:r>
            <a:r>
              <a:rPr kumimoji="1" lang="en-US" altLang="ja-JP" sz="3000" dirty="0"/>
              <a:t>1</a:t>
            </a:r>
            <a:endParaRPr kumimoji="1" lang="ja-JP" altLang="en-US" sz="3000" dirty="0"/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228600" y="914400"/>
            <a:ext cx="22363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rgbClr val="0000FF"/>
                </a:solidFill>
              </a:rPr>
              <a:t>Newton</a:t>
            </a:r>
            <a:r>
              <a:rPr lang="ja-JP" altLang="en-US" dirty="0">
                <a:solidFill>
                  <a:srgbClr val="0000FF"/>
                </a:solidFill>
              </a:rPr>
              <a:t>方程式：</a:t>
            </a:r>
            <a:endParaRPr kumimoji="1" lang="ja-JP" altLang="en-US" dirty="0">
              <a:solidFill>
                <a:srgbClr val="0000FF"/>
              </a:solidFill>
            </a:endParaRPr>
          </a:p>
        </p:txBody>
      </p:sp>
      <p:graphicFrame>
        <p:nvGraphicFramePr>
          <p:cNvPr id="23" name="オブジェクト 22"/>
          <p:cNvGraphicFramePr>
            <a:graphicFrameLocks noChangeAspect="1"/>
          </p:cNvGraphicFramePr>
          <p:nvPr/>
        </p:nvGraphicFramePr>
        <p:xfrm>
          <a:off x="941388" y="1462088"/>
          <a:ext cx="3990975" cy="84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3" imgW="2044700" imgH="431800" progId="Equation.3">
                  <p:embed/>
                </p:oleObj>
              </mc:Choice>
              <mc:Fallback>
                <p:oleObj name="数式" r:id="rId3" imgW="2044700" imgH="4318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1388" y="1462088"/>
                        <a:ext cx="3990975" cy="842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テキスト ボックス 23"/>
          <p:cNvSpPr txBox="1"/>
          <p:nvPr/>
        </p:nvSpPr>
        <p:spPr>
          <a:xfrm>
            <a:off x="5634821" y="1524000"/>
            <a:ext cx="3558787" cy="1200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座標</a:t>
            </a:r>
            <a:r>
              <a:rPr kumimoji="1" lang="en-US" altLang="ja-JP" dirty="0"/>
              <a:t>(</a:t>
            </a:r>
            <a:r>
              <a:rPr kumimoji="1" lang="en-US" altLang="ja-JP" i="1" dirty="0" err="1"/>
              <a:t>r</a:t>
            </a:r>
            <a:r>
              <a:rPr kumimoji="1" lang="en-US" altLang="ja-JP" dirty="0"/>
              <a:t>), </a:t>
            </a:r>
            <a:r>
              <a:rPr kumimoji="1" lang="ja-JP" altLang="en-US" dirty="0"/>
              <a:t>速度</a:t>
            </a:r>
            <a:r>
              <a:rPr kumimoji="1" lang="en-US" altLang="ja-JP" dirty="0"/>
              <a:t>(</a:t>
            </a:r>
            <a:r>
              <a:rPr kumimoji="1" lang="en-US" altLang="ja-JP" i="1" dirty="0" err="1"/>
              <a:t>v</a:t>
            </a:r>
            <a:r>
              <a:rPr kumimoji="1" lang="en-US" altLang="ja-JP" dirty="0"/>
              <a:t>)</a:t>
            </a:r>
            <a:r>
              <a:rPr kumimoji="1" lang="ja-JP" altLang="en-US" dirty="0"/>
              <a:t>，</a:t>
            </a:r>
            <a:endParaRPr kumimoji="1" lang="en-US" altLang="ja-JP" dirty="0"/>
          </a:p>
          <a:p>
            <a:r>
              <a:rPr kumimoji="1" lang="ja-JP" altLang="en-US" dirty="0"/>
              <a:t>原子に働く力</a:t>
            </a:r>
            <a:r>
              <a:rPr kumimoji="1" lang="en-US" altLang="ja-JP" dirty="0"/>
              <a:t>(</a:t>
            </a:r>
            <a:r>
              <a:rPr kumimoji="1" lang="en-US" altLang="ja-JP" i="1" dirty="0"/>
              <a:t>F</a:t>
            </a:r>
            <a:r>
              <a:rPr kumimoji="1" lang="en-US" altLang="ja-JP" dirty="0"/>
              <a:t>)</a:t>
            </a:r>
            <a:r>
              <a:rPr kumimoji="1" lang="ja-JP" altLang="en-US" dirty="0"/>
              <a:t>と質量</a:t>
            </a:r>
            <a:r>
              <a:rPr kumimoji="1" lang="en-US" altLang="ja-JP" dirty="0"/>
              <a:t>(</a:t>
            </a:r>
            <a:r>
              <a:rPr kumimoji="1" lang="en-US" altLang="ja-JP" i="1" dirty="0" err="1"/>
              <a:t>m</a:t>
            </a:r>
            <a:r>
              <a:rPr kumimoji="1" lang="en-US" altLang="ja-JP" dirty="0"/>
              <a:t>)</a:t>
            </a:r>
          </a:p>
          <a:p>
            <a:r>
              <a:rPr kumimoji="1" lang="ja-JP" altLang="en-US" dirty="0"/>
              <a:t>の関係</a:t>
            </a:r>
          </a:p>
        </p:txBody>
      </p:sp>
      <p:graphicFrame>
        <p:nvGraphicFramePr>
          <p:cNvPr id="25" name="オブジェクト 24"/>
          <p:cNvGraphicFramePr>
            <a:graphicFrameLocks noChangeAspect="1"/>
          </p:cNvGraphicFramePr>
          <p:nvPr/>
        </p:nvGraphicFramePr>
        <p:xfrm>
          <a:off x="1143000" y="4278312"/>
          <a:ext cx="4127500" cy="212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5" imgW="2222500" imgH="1143000" progId="Equation.3">
                  <p:embed/>
                </p:oleObj>
              </mc:Choice>
              <mc:Fallback>
                <p:oleObj name="数式" r:id="rId5" imgW="2222500" imgH="11430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278312"/>
                        <a:ext cx="4127500" cy="2122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テキスト ボックス 25"/>
          <p:cNvSpPr txBox="1"/>
          <p:nvPr/>
        </p:nvSpPr>
        <p:spPr>
          <a:xfrm>
            <a:off x="5943600" y="4648200"/>
            <a:ext cx="3886200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左に示す</a:t>
            </a:r>
            <a:r>
              <a:rPr kumimoji="1" lang="en-US" altLang="ja-JP" dirty="0"/>
              <a:t>3</a:t>
            </a:r>
            <a:r>
              <a:rPr kumimoji="1" lang="ja-JP" altLang="en-US" dirty="0"/>
              <a:t>段階の計算で</a:t>
            </a:r>
            <a:endParaRPr kumimoji="1" lang="en-US" altLang="ja-JP" dirty="0"/>
          </a:p>
          <a:p>
            <a:r>
              <a:rPr kumimoji="1" lang="en-US" altLang="ja-JP" dirty="0"/>
              <a:t>1</a:t>
            </a:r>
            <a:r>
              <a:rPr lang="ja-JP" altLang="en-US" dirty="0"/>
              <a:t>タイム</a:t>
            </a:r>
            <a:r>
              <a:rPr kumimoji="1" lang="ja-JP" altLang="en-US" dirty="0"/>
              <a:t>ステップ</a:t>
            </a:r>
            <a:r>
              <a:rPr kumimoji="1" lang="en-US" altLang="ja-JP" dirty="0"/>
              <a:t>(</a:t>
            </a:r>
            <a:r>
              <a:rPr kumimoji="1" lang="en-US" altLang="ja-JP" i="1" dirty="0" err="1"/>
              <a:t>dt</a:t>
            </a:r>
            <a:r>
              <a:rPr kumimoji="1" lang="en-US" altLang="ja-JP" dirty="0"/>
              <a:t>)</a:t>
            </a:r>
            <a:r>
              <a:rPr kumimoji="1" lang="ja-JP" altLang="en-US" dirty="0"/>
              <a:t>進める</a:t>
            </a:r>
            <a:endParaRPr kumimoji="1" lang="en-US" altLang="ja-JP" dirty="0"/>
          </a:p>
          <a:p>
            <a:r>
              <a:rPr kumimoji="1" lang="ja-JP" altLang="en-US" dirty="0"/>
              <a:t>アルゴリズムのこと</a:t>
            </a:r>
          </a:p>
        </p:txBody>
      </p:sp>
      <p:graphicFrame>
        <p:nvGraphicFramePr>
          <p:cNvPr id="27" name="オブジェクト 26"/>
          <p:cNvGraphicFramePr>
            <a:graphicFrameLocks noChangeAspect="1"/>
          </p:cNvGraphicFramePr>
          <p:nvPr/>
        </p:nvGraphicFramePr>
        <p:xfrm>
          <a:off x="990600" y="2590800"/>
          <a:ext cx="43719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7" imgW="2590800" imgH="406400" progId="Equation.3">
                  <p:embed/>
                </p:oleObj>
              </mc:Choice>
              <mc:Fallback>
                <p:oleObj name="数式" r:id="rId7" imgW="2590800" imgH="4064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590800"/>
                        <a:ext cx="4371975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0" y="762000"/>
            <a:ext cx="9910763" cy="82550"/>
            <a:chOff x="-2" y="408"/>
            <a:chExt cx="6243" cy="52"/>
          </a:xfrm>
        </p:grpSpPr>
        <p:sp>
          <p:nvSpPr>
            <p:cNvPr id="74766" name="Rectangle 14"/>
            <p:cNvSpPr>
              <a:spLocks noChangeArrowheads="1"/>
            </p:cNvSpPr>
            <p:nvPr/>
          </p:nvSpPr>
          <p:spPr bwMode="auto">
            <a:xfrm>
              <a:off x="-2" y="408"/>
              <a:ext cx="6232" cy="25"/>
            </a:xfrm>
            <a:prstGeom prst="rect">
              <a:avLst/>
            </a:prstGeom>
            <a:solidFill>
              <a:srgbClr val="FC0128"/>
            </a:solidFill>
            <a:ln w="12700">
              <a:solidFill>
                <a:srgbClr val="FC0128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ja-JP" altLang="en-US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74767" name="Rectangle 15"/>
            <p:cNvSpPr>
              <a:spLocks noChangeArrowheads="1"/>
            </p:cNvSpPr>
            <p:nvPr/>
          </p:nvSpPr>
          <p:spPr bwMode="auto">
            <a:xfrm flipV="1">
              <a:off x="0" y="433"/>
              <a:ext cx="6241" cy="27"/>
            </a:xfrm>
            <a:prstGeom prst="rect">
              <a:avLst/>
            </a:prstGeom>
            <a:solidFill>
              <a:srgbClr val="063DE8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ja-JP" altLang="en-US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</p:grpSp>
      <p:graphicFrame>
        <p:nvGraphicFramePr>
          <p:cNvPr id="10" name="オブジェクト 9"/>
          <p:cNvGraphicFramePr>
            <a:graphicFrameLocks noChangeAspect="1"/>
          </p:cNvGraphicFramePr>
          <p:nvPr/>
        </p:nvGraphicFramePr>
        <p:xfrm>
          <a:off x="990600" y="1676400"/>
          <a:ext cx="2536658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3" imgW="1460500" imgH="482600" progId="Equation.3">
                  <p:embed/>
                </p:oleObj>
              </mc:Choice>
              <mc:Fallback>
                <p:oleObj name="数式" r:id="rId3" imgW="1460500" imgH="4826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676400"/>
                        <a:ext cx="2536658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オブジェクト 10"/>
          <p:cNvGraphicFramePr>
            <a:graphicFrameLocks noChangeAspect="1"/>
          </p:cNvGraphicFramePr>
          <p:nvPr/>
        </p:nvGraphicFramePr>
        <p:xfrm>
          <a:off x="2133600" y="2819400"/>
          <a:ext cx="1413100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5" imgW="787400" imgH="177800" progId="Equation.3">
                  <p:embed/>
                </p:oleObj>
              </mc:Choice>
              <mc:Fallback>
                <p:oleObj name="数式" r:id="rId5" imgW="787400" imgH="1778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819400"/>
                        <a:ext cx="1413100" cy="319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5" name="Object 5"/>
          <p:cNvGraphicFramePr>
            <a:graphicFrameLocks noChangeAspect="1"/>
          </p:cNvGraphicFramePr>
          <p:nvPr/>
        </p:nvGraphicFramePr>
        <p:xfrm>
          <a:off x="3822700" y="2755900"/>
          <a:ext cx="1071562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7" imgW="596900" imgH="165100" progId="Equation.3">
                  <p:embed/>
                </p:oleObj>
              </mc:Choice>
              <mc:Fallback>
                <p:oleObj name="数式" r:id="rId7" imgW="596900" imgH="1651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2700" y="2755900"/>
                        <a:ext cx="1071562" cy="295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テキスト ボックス 13"/>
          <p:cNvSpPr txBox="1"/>
          <p:nvPr/>
        </p:nvSpPr>
        <p:spPr>
          <a:xfrm>
            <a:off x="304800" y="990600"/>
            <a:ext cx="3891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solidFill>
                  <a:srgbClr val="0000FF"/>
                </a:solidFill>
              </a:rPr>
              <a:t>Lennard</a:t>
            </a:r>
            <a:r>
              <a:rPr kumimoji="1" lang="en-US" altLang="ja-JP" dirty="0">
                <a:solidFill>
                  <a:srgbClr val="0000FF"/>
                </a:solidFill>
              </a:rPr>
              <a:t>-Jones </a:t>
            </a:r>
            <a:r>
              <a:rPr lang="ja-JP" altLang="en-US" dirty="0">
                <a:solidFill>
                  <a:srgbClr val="0000FF"/>
                </a:solidFill>
              </a:rPr>
              <a:t>ポテンシャル：</a:t>
            </a:r>
            <a:endParaRPr kumimoji="1" lang="ja-JP" altLang="en-US" dirty="0">
              <a:solidFill>
                <a:srgbClr val="0000FF"/>
              </a:solidFill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304800" y="3653135"/>
            <a:ext cx="26975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0000FF"/>
                </a:solidFill>
              </a:rPr>
              <a:t>面心立方格子</a:t>
            </a:r>
            <a:r>
              <a:rPr kumimoji="1" lang="en-US" altLang="ja-JP" dirty="0">
                <a:solidFill>
                  <a:srgbClr val="0000FF"/>
                </a:solidFill>
              </a:rPr>
              <a:t>(</a:t>
            </a:r>
            <a:r>
              <a:rPr kumimoji="1" lang="en-US" altLang="ja-JP" dirty="0" err="1">
                <a:solidFill>
                  <a:srgbClr val="0000FF"/>
                </a:solidFill>
              </a:rPr>
              <a:t>fcc</a:t>
            </a:r>
            <a:r>
              <a:rPr kumimoji="1" lang="en-US" altLang="ja-JP" dirty="0">
                <a:solidFill>
                  <a:srgbClr val="0000FF"/>
                </a:solidFill>
              </a:rPr>
              <a:t>):</a:t>
            </a:r>
            <a:endParaRPr kumimoji="1" lang="ja-JP" altLang="en-US" dirty="0">
              <a:solidFill>
                <a:srgbClr val="0000FF"/>
              </a:solidFill>
            </a:endParaRPr>
          </a:p>
        </p:txBody>
      </p:sp>
      <p:pic>
        <p:nvPicPr>
          <p:cNvPr id="16" name="図 15" descr="mennsi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4114800"/>
            <a:ext cx="2400300" cy="2243759"/>
          </a:xfrm>
          <a:prstGeom prst="rect">
            <a:avLst/>
          </a:prstGeom>
        </p:spPr>
      </p:pic>
      <p:sp>
        <p:nvSpPr>
          <p:cNvPr id="17" name="テキスト ボックス 16"/>
          <p:cNvSpPr txBox="1"/>
          <p:nvPr/>
        </p:nvSpPr>
        <p:spPr>
          <a:xfrm>
            <a:off x="3276600" y="4267200"/>
            <a:ext cx="6324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原子は，立方体の</a:t>
            </a:r>
            <a:r>
              <a:rPr lang="ja-JP" altLang="ja-JP" dirty="0"/>
              <a:t>８</a:t>
            </a:r>
            <a:r>
              <a:rPr kumimoji="1" lang="ja-JP" altLang="en-US" dirty="0"/>
              <a:t>個の頂点と６個の面中心に位置する．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この立方体が，３次元で連続して続いている際の原子</a:t>
            </a:r>
            <a:r>
              <a:rPr lang="ja-JP" altLang="en-US" dirty="0"/>
              <a:t>位置</a:t>
            </a:r>
            <a:r>
              <a:rPr kumimoji="1" lang="ja-JP" altLang="en-US" dirty="0"/>
              <a:t> </a:t>
            </a:r>
            <a:r>
              <a:rPr lang="en-US" altLang="ja-JP" dirty="0"/>
              <a:t>(</a:t>
            </a:r>
            <a:r>
              <a:rPr lang="ja-JP" altLang="en-US" dirty="0"/>
              <a:t>重複した点は省く</a:t>
            </a:r>
            <a:r>
              <a:rPr lang="en-US" altLang="ja-JP" dirty="0"/>
              <a:t>)</a:t>
            </a:r>
            <a:r>
              <a:rPr kumimoji="1" lang="ja-JP" altLang="en-US" dirty="0"/>
              <a:t>のことを</a:t>
            </a:r>
            <a:r>
              <a:rPr kumimoji="1" lang="en-US" altLang="ja-JP" dirty="0" err="1"/>
              <a:t>fcc</a:t>
            </a:r>
            <a:r>
              <a:rPr kumimoji="1" lang="ja-JP" altLang="en-US" dirty="0"/>
              <a:t>格子という</a:t>
            </a: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5105400" y="1219200"/>
            <a:ext cx="43829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希ガス原子間の相互作用を表す</a:t>
            </a:r>
            <a:endParaRPr lang="en-US" altLang="ja-JP" dirty="0"/>
          </a:p>
          <a:p>
            <a:r>
              <a:rPr kumimoji="1" lang="ja-JP" altLang="en-US" dirty="0"/>
              <a:t>原子間ポテンシャルモデル</a:t>
            </a: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1066800" y="2667000"/>
            <a:ext cx="9529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ここで</a:t>
            </a: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3497151" y="2705100"/>
            <a:ext cx="3890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，</a:t>
            </a:r>
            <a:endParaRPr kumimoji="1" lang="ja-JP" altLang="en-US" dirty="0"/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3886200" y="131802"/>
            <a:ext cx="238178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000" dirty="0"/>
              <a:t>キーポイント</a:t>
            </a:r>
            <a:r>
              <a:rPr kumimoji="1" lang="en-US" altLang="ja-JP" sz="3000" dirty="0"/>
              <a:t>2</a:t>
            </a:r>
            <a:endParaRPr kumimoji="1" lang="ja-JP" altLang="en-US" sz="3000" dirty="0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5150963" y="1981200"/>
            <a:ext cx="30786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(</a:t>
            </a:r>
            <a:r>
              <a:rPr kumimoji="1" lang="en-US" altLang="ja-JP" i="1" dirty="0" err="1"/>
              <a:t>r</a:t>
            </a:r>
            <a:r>
              <a:rPr kumimoji="1" lang="ja-JP" altLang="en-US" dirty="0"/>
              <a:t>は，２原子間の距離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graphicFrame>
        <p:nvGraphicFramePr>
          <p:cNvPr id="103432" name="Object 8"/>
          <p:cNvGraphicFramePr>
            <a:graphicFrameLocks noChangeAspect="1"/>
          </p:cNvGraphicFramePr>
          <p:nvPr/>
        </p:nvGraphicFramePr>
        <p:xfrm>
          <a:off x="5862637" y="2768600"/>
          <a:ext cx="2392363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10" imgW="1333500" imgH="203200" progId="Equation.3">
                  <p:embed/>
                </p:oleObj>
              </mc:Choice>
              <mc:Fallback>
                <p:oleObj name="数式" r:id="rId10" imgW="1333500" imgH="2032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2637" y="2768600"/>
                        <a:ext cx="2392363" cy="363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正方形/長方形 21"/>
          <p:cNvSpPr/>
          <p:nvPr/>
        </p:nvSpPr>
        <p:spPr>
          <a:xfrm>
            <a:off x="5791200" y="3124200"/>
            <a:ext cx="25182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dirty="0"/>
              <a:t>はボルツマン定数</a:t>
            </a:r>
          </a:p>
        </p:txBody>
      </p:sp>
    </p:spTree>
  </p:cSld>
  <p:clrMapOvr>
    <a:masterClrMapping/>
  </p:clrMapOvr>
  <p:transition>
    <p:blinds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0" y="762000"/>
            <a:ext cx="9910763" cy="82550"/>
            <a:chOff x="-2" y="408"/>
            <a:chExt cx="6243" cy="52"/>
          </a:xfrm>
        </p:grpSpPr>
        <p:sp>
          <p:nvSpPr>
            <p:cNvPr id="74766" name="Rectangle 14"/>
            <p:cNvSpPr>
              <a:spLocks noChangeArrowheads="1"/>
            </p:cNvSpPr>
            <p:nvPr/>
          </p:nvSpPr>
          <p:spPr bwMode="auto">
            <a:xfrm>
              <a:off x="-2" y="408"/>
              <a:ext cx="6232" cy="25"/>
            </a:xfrm>
            <a:prstGeom prst="rect">
              <a:avLst/>
            </a:prstGeom>
            <a:solidFill>
              <a:srgbClr val="FC0128"/>
            </a:solidFill>
            <a:ln w="12700">
              <a:solidFill>
                <a:srgbClr val="FC0128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ja-JP" altLang="en-US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74767" name="Rectangle 15"/>
            <p:cNvSpPr>
              <a:spLocks noChangeArrowheads="1"/>
            </p:cNvSpPr>
            <p:nvPr/>
          </p:nvSpPr>
          <p:spPr bwMode="auto">
            <a:xfrm flipV="1">
              <a:off x="0" y="433"/>
              <a:ext cx="6241" cy="27"/>
            </a:xfrm>
            <a:prstGeom prst="rect">
              <a:avLst/>
            </a:prstGeom>
            <a:solidFill>
              <a:srgbClr val="063DE8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ja-JP" altLang="en-US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</p:grpSp>
      <p:sp>
        <p:nvSpPr>
          <p:cNvPr id="14" name="テキスト ボックス 13"/>
          <p:cNvSpPr txBox="1"/>
          <p:nvPr/>
        </p:nvSpPr>
        <p:spPr>
          <a:xfrm>
            <a:off x="304800" y="990600"/>
            <a:ext cx="3821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rgbClr val="0000FF"/>
                </a:solidFill>
              </a:rPr>
              <a:t>Atomic unit. (</a:t>
            </a:r>
            <a:r>
              <a:rPr kumimoji="1" lang="en-US" altLang="ja-JP" dirty="0" err="1">
                <a:solidFill>
                  <a:srgbClr val="0000FF"/>
                </a:solidFill>
              </a:rPr>
              <a:t>a.u</a:t>
            </a:r>
            <a:r>
              <a:rPr kumimoji="1" lang="en-US" altLang="ja-JP" dirty="0">
                <a:solidFill>
                  <a:srgbClr val="0000FF"/>
                </a:solidFill>
              </a:rPr>
              <a:t>.)</a:t>
            </a:r>
            <a:r>
              <a:rPr kumimoji="1" lang="ja-JP" altLang="en-US" dirty="0">
                <a:solidFill>
                  <a:srgbClr val="0000FF"/>
                </a:solidFill>
              </a:rPr>
              <a:t>での単位</a:t>
            </a:r>
            <a:r>
              <a:rPr lang="ja-JP" altLang="en-US" dirty="0">
                <a:solidFill>
                  <a:srgbClr val="0000FF"/>
                </a:solidFill>
              </a:rPr>
              <a:t>：</a:t>
            </a:r>
            <a:endParaRPr kumimoji="1" lang="ja-JP" altLang="en-US" dirty="0">
              <a:solidFill>
                <a:srgbClr val="0000FF"/>
              </a:solidFill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977900" y="1676400"/>
            <a:ext cx="42875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1 </a:t>
            </a:r>
            <a:r>
              <a:rPr lang="en-US" altLang="ja-JP" dirty="0" err="1"/>
              <a:t>a.u</a:t>
            </a:r>
            <a:r>
              <a:rPr lang="en-US" altLang="ja-JP" dirty="0"/>
              <a:t>. of mass = m</a:t>
            </a:r>
            <a:r>
              <a:rPr lang="en-US" altLang="ja-JP" baseline="-25000" dirty="0"/>
              <a:t>e</a:t>
            </a:r>
            <a:r>
              <a:rPr lang="en-US" altLang="ja-JP" dirty="0"/>
              <a:t>(</a:t>
            </a:r>
            <a:r>
              <a:rPr lang="ja-JP" altLang="en-US" dirty="0"/>
              <a:t>電子の質量</a:t>
            </a:r>
            <a:r>
              <a:rPr lang="en-US" altLang="ja-JP" dirty="0"/>
              <a:t>)</a:t>
            </a:r>
            <a:endParaRPr kumimoji="1" lang="ja-JP" altLang="en-US" baseline="-25000" dirty="0"/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3886200" y="131802"/>
            <a:ext cx="238178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000" dirty="0"/>
              <a:t>キーポイント</a:t>
            </a:r>
            <a:r>
              <a:rPr lang="en-US" altLang="ja-JP" sz="3000" dirty="0"/>
              <a:t>3</a:t>
            </a:r>
            <a:endParaRPr kumimoji="1" lang="en-US" altLang="ja-JP" sz="3000" dirty="0"/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971309" y="2400300"/>
            <a:ext cx="76377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1 </a:t>
            </a:r>
            <a:r>
              <a:rPr lang="en-US" altLang="ja-JP" dirty="0" err="1"/>
              <a:t>a.u</a:t>
            </a:r>
            <a:r>
              <a:rPr lang="en-US" altLang="ja-JP" dirty="0"/>
              <a:t>. of length = 0.52918Å= 0.52918</a:t>
            </a:r>
            <a:r>
              <a:rPr lang="en-US" altLang="ja-JP" dirty="0">
                <a:latin typeface="+mn-lt"/>
              </a:rPr>
              <a:t>x</a:t>
            </a:r>
            <a:r>
              <a:rPr lang="en-US" altLang="ja-JP" dirty="0"/>
              <a:t>10</a:t>
            </a:r>
            <a:r>
              <a:rPr lang="en-US" altLang="ja-JP" baseline="30000" dirty="0"/>
              <a:t>-10</a:t>
            </a:r>
            <a:r>
              <a:rPr lang="en-US" altLang="ja-JP" dirty="0"/>
              <a:t>m (</a:t>
            </a:r>
            <a:r>
              <a:rPr lang="ja-JP" altLang="en-US" dirty="0"/>
              <a:t>ボーア半径</a:t>
            </a:r>
            <a:r>
              <a:rPr lang="en-US" altLang="ja-JP" dirty="0"/>
              <a:t>)</a:t>
            </a:r>
            <a:endParaRPr kumimoji="1" lang="ja-JP" altLang="en-US" baseline="-25000" dirty="0"/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977900" y="3119735"/>
            <a:ext cx="4255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1 </a:t>
            </a:r>
            <a:r>
              <a:rPr lang="en-US" altLang="ja-JP" dirty="0" err="1"/>
              <a:t>a.u</a:t>
            </a:r>
            <a:r>
              <a:rPr lang="en-US" altLang="ja-JP" dirty="0"/>
              <a:t>. of time = 2.4189</a:t>
            </a:r>
            <a:r>
              <a:rPr lang="en-US" altLang="ja-JP" dirty="0">
                <a:latin typeface="+mn-lt"/>
              </a:rPr>
              <a:t>x</a:t>
            </a:r>
            <a:r>
              <a:rPr lang="en-US" altLang="ja-JP" dirty="0"/>
              <a:t>10</a:t>
            </a:r>
            <a:r>
              <a:rPr lang="en-US" altLang="ja-JP" baseline="30000" dirty="0"/>
              <a:t>-17</a:t>
            </a:r>
            <a:r>
              <a:rPr lang="en-US" altLang="ja-JP" dirty="0"/>
              <a:t>sec</a:t>
            </a:r>
            <a:endParaRPr kumimoji="1" lang="ja-JP" altLang="en-US" baseline="-25000" dirty="0"/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990600" y="5139035"/>
            <a:ext cx="2743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1 </a:t>
            </a:r>
            <a:r>
              <a:rPr lang="en-US" altLang="ja-JP" dirty="0" err="1"/>
              <a:t>eV</a:t>
            </a:r>
            <a:r>
              <a:rPr lang="en-US" altLang="ja-JP" dirty="0"/>
              <a:t> = 11605K </a:t>
            </a:r>
            <a:r>
              <a:rPr lang="en-US" altLang="ja-JP" dirty="0" err="1">
                <a:latin typeface="+mn-lt"/>
              </a:rPr>
              <a:t>x</a:t>
            </a:r>
            <a:r>
              <a:rPr lang="en-US" altLang="ja-JP" dirty="0"/>
              <a:t> </a:t>
            </a:r>
            <a:r>
              <a:rPr lang="en-US" altLang="ja-JP" dirty="0" err="1"/>
              <a:t>k</a:t>
            </a:r>
            <a:r>
              <a:rPr lang="en-US" altLang="ja-JP" baseline="-25000" dirty="0" err="1"/>
              <a:t>B</a:t>
            </a:r>
            <a:endParaRPr kumimoji="1" lang="ja-JP" altLang="en-US" baseline="-25000" dirty="0"/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5605939" y="1701800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FF0000"/>
                </a:solidFill>
              </a:rPr>
              <a:t>陽子の質量は電子の約</a:t>
            </a:r>
            <a:r>
              <a:rPr lang="en-US" altLang="ja-JP" dirty="0">
                <a:solidFill>
                  <a:srgbClr val="FF0000"/>
                </a:solidFill>
              </a:rPr>
              <a:t>1840</a:t>
            </a:r>
            <a:r>
              <a:rPr lang="ja-JP" altLang="en-US" dirty="0">
                <a:solidFill>
                  <a:srgbClr val="FF0000"/>
                </a:solidFill>
              </a:rPr>
              <a:t>倍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974275" y="3835400"/>
            <a:ext cx="44867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1 </a:t>
            </a:r>
            <a:r>
              <a:rPr lang="en-US" altLang="ja-JP" dirty="0" err="1"/>
              <a:t>a.u</a:t>
            </a:r>
            <a:r>
              <a:rPr lang="en-US" altLang="ja-JP" dirty="0"/>
              <a:t>. of velocity = 2.19</a:t>
            </a:r>
            <a:r>
              <a:rPr lang="en-US" altLang="ja-JP" dirty="0">
                <a:latin typeface="+mn-lt"/>
              </a:rPr>
              <a:t>x</a:t>
            </a:r>
            <a:r>
              <a:rPr lang="en-US" altLang="ja-JP" dirty="0"/>
              <a:t>10</a:t>
            </a:r>
            <a:r>
              <a:rPr lang="en-US" altLang="ja-JP" baseline="30000" dirty="0"/>
              <a:t>6</a:t>
            </a:r>
            <a:r>
              <a:rPr lang="en-US" altLang="ja-JP" dirty="0"/>
              <a:t> </a:t>
            </a:r>
            <a:r>
              <a:rPr lang="en-US" altLang="ja-JP" dirty="0" err="1"/>
              <a:t>m</a:t>
            </a:r>
            <a:r>
              <a:rPr lang="en-US" altLang="ja-JP" dirty="0"/>
              <a:t>/sec</a:t>
            </a:r>
            <a:endParaRPr kumimoji="1" lang="ja-JP" altLang="en-US" baseline="-25000" dirty="0"/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990600" y="4491335"/>
            <a:ext cx="34809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1 </a:t>
            </a:r>
            <a:r>
              <a:rPr lang="en-US" altLang="ja-JP" dirty="0" err="1"/>
              <a:t>a.u</a:t>
            </a:r>
            <a:r>
              <a:rPr lang="en-US" altLang="ja-JP" dirty="0"/>
              <a:t>. of energy = 27.21eV</a:t>
            </a:r>
            <a:endParaRPr kumimoji="1" lang="ja-JP" altLang="en-US" baseline="-25000" dirty="0"/>
          </a:p>
        </p:txBody>
      </p:sp>
      <p:sp>
        <p:nvSpPr>
          <p:cNvPr id="31" name="テキスト ボックス 30"/>
          <p:cNvSpPr txBox="1"/>
          <p:nvPr/>
        </p:nvSpPr>
        <p:spPr>
          <a:xfrm>
            <a:off x="5715000" y="3149600"/>
            <a:ext cx="40362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FF0000"/>
                </a:solidFill>
              </a:rPr>
              <a:t>約</a:t>
            </a:r>
            <a:r>
              <a:rPr lang="en-US" altLang="ja-JP" dirty="0">
                <a:solidFill>
                  <a:srgbClr val="FF0000"/>
                </a:solidFill>
              </a:rPr>
              <a:t>41a.u. of time=1fs=10</a:t>
            </a:r>
            <a:r>
              <a:rPr lang="en-US" altLang="ja-JP" baseline="30000" dirty="0">
                <a:solidFill>
                  <a:srgbClr val="FF0000"/>
                </a:solidFill>
              </a:rPr>
              <a:t>-15</a:t>
            </a:r>
            <a:r>
              <a:rPr lang="en-US" altLang="ja-JP" dirty="0">
                <a:solidFill>
                  <a:srgbClr val="FF0000"/>
                </a:solidFill>
              </a:rPr>
              <a:t>sec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A18A58A-60DA-FEFF-B91E-B7DE005093FC}"/>
              </a:ext>
            </a:extLst>
          </p:cNvPr>
          <p:cNvSpPr txBox="1"/>
          <p:nvPr/>
        </p:nvSpPr>
        <p:spPr>
          <a:xfrm>
            <a:off x="560512" y="5805264"/>
            <a:ext cx="74688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ja-JP" dirty="0"/>
              <a:t>https://</a:t>
            </a:r>
            <a:r>
              <a:rPr lang="en" altLang="ja-JP" dirty="0" err="1"/>
              <a:t>en.wikipedia.org</a:t>
            </a:r>
            <a:r>
              <a:rPr lang="en" altLang="ja-JP" dirty="0"/>
              <a:t>/wiki/</a:t>
            </a:r>
            <a:r>
              <a:rPr lang="en" altLang="ja-JP" dirty="0" err="1"/>
              <a:t>Atomic_units</a:t>
            </a:r>
            <a:endParaRPr lang="ja-JP" altLang="en-US"/>
          </a:p>
        </p:txBody>
      </p:sp>
    </p:spTree>
  </p:cSld>
  <p:clrMapOvr>
    <a:masterClrMapping/>
  </p:clrMapOvr>
  <p:transition>
    <p:blinds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0" y="762000"/>
            <a:ext cx="9910763" cy="82550"/>
            <a:chOff x="-2" y="408"/>
            <a:chExt cx="6243" cy="52"/>
          </a:xfrm>
        </p:grpSpPr>
        <p:sp>
          <p:nvSpPr>
            <p:cNvPr id="74766" name="Rectangle 14"/>
            <p:cNvSpPr>
              <a:spLocks noChangeArrowheads="1"/>
            </p:cNvSpPr>
            <p:nvPr/>
          </p:nvSpPr>
          <p:spPr bwMode="auto">
            <a:xfrm>
              <a:off x="-2" y="408"/>
              <a:ext cx="6232" cy="25"/>
            </a:xfrm>
            <a:prstGeom prst="rect">
              <a:avLst/>
            </a:prstGeom>
            <a:solidFill>
              <a:srgbClr val="FC0128"/>
            </a:solidFill>
            <a:ln w="12700">
              <a:solidFill>
                <a:srgbClr val="FC0128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ja-JP" altLang="en-US">
                <a:effectLst>
                  <a:outerShdw blurRad="38100" dist="38100" dir="2700000" algn="tl">
                    <a:srgbClr val="FFFFFF"/>
                  </a:outerShdw>
                </a:effectLst>
                <a:latin typeface="Hiragino Maru Gothic Pro W4" panose="020F0400000000000000" pitchFamily="34" charset="-128"/>
                <a:ea typeface="Hiragino Maru Gothic Pro W4" panose="020F0400000000000000" pitchFamily="34" charset="-128"/>
              </a:endParaRPr>
            </a:p>
          </p:txBody>
        </p:sp>
        <p:sp>
          <p:nvSpPr>
            <p:cNvPr id="74767" name="Rectangle 15"/>
            <p:cNvSpPr>
              <a:spLocks noChangeArrowheads="1"/>
            </p:cNvSpPr>
            <p:nvPr/>
          </p:nvSpPr>
          <p:spPr bwMode="auto">
            <a:xfrm flipV="1">
              <a:off x="0" y="433"/>
              <a:ext cx="6241" cy="27"/>
            </a:xfrm>
            <a:prstGeom prst="rect">
              <a:avLst/>
            </a:prstGeom>
            <a:solidFill>
              <a:srgbClr val="063DE8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ja-JP" altLang="en-US">
                <a:effectLst>
                  <a:outerShdw blurRad="38100" dist="38100" dir="2700000" algn="tl">
                    <a:srgbClr val="FFFFFF"/>
                  </a:outerShdw>
                </a:effectLst>
                <a:latin typeface="Hiragino Maru Gothic Pro W4" panose="020F0400000000000000" pitchFamily="34" charset="-128"/>
                <a:ea typeface="Hiragino Maru Gothic Pro W4" panose="020F0400000000000000" pitchFamily="34" charset="-128"/>
              </a:endParaRPr>
            </a:p>
          </p:txBody>
        </p:sp>
      </p:grpSp>
      <p:sp>
        <p:nvSpPr>
          <p:cNvPr id="14" name="テキスト ボックス 13"/>
          <p:cNvSpPr txBox="1"/>
          <p:nvPr/>
        </p:nvSpPr>
        <p:spPr>
          <a:xfrm>
            <a:off x="304801" y="990600"/>
            <a:ext cx="87526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rgbClr val="0000FF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OVITO </a:t>
            </a:r>
            <a:r>
              <a:rPr lang="ja-JP" altLang="en-US">
                <a:solidFill>
                  <a:srgbClr val="0000FF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という分子動力学の可視化ソフトを</a:t>
            </a:r>
            <a:r>
              <a:rPr lang="en-US" altLang="ja-JP" dirty="0">
                <a:solidFill>
                  <a:srgbClr val="0000FF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Google</a:t>
            </a:r>
            <a:r>
              <a:rPr lang="ja-JP" altLang="en-US">
                <a:solidFill>
                  <a:srgbClr val="0000FF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で検索し，自分の</a:t>
            </a:r>
            <a:r>
              <a:rPr lang="en-US" altLang="ja-JP" dirty="0">
                <a:solidFill>
                  <a:srgbClr val="0000FF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mac</a:t>
            </a:r>
            <a:r>
              <a:rPr lang="ja-JP" altLang="en-US">
                <a:solidFill>
                  <a:srgbClr val="0000FF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にインストールすると，</a:t>
            </a:r>
            <a:r>
              <a:rPr lang="en-US" altLang="ja-JP" dirty="0">
                <a:solidFill>
                  <a:srgbClr val="0000FF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MD</a:t>
            </a:r>
            <a:r>
              <a:rPr lang="ja-JP" altLang="en-US">
                <a:solidFill>
                  <a:srgbClr val="0000FF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の様子がわかりやすい</a:t>
            </a:r>
            <a:endParaRPr kumimoji="1" lang="ja-JP" altLang="en-US" dirty="0">
              <a:solidFill>
                <a:srgbClr val="0000FF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3886200" y="131802"/>
            <a:ext cx="274305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0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キーポイント</a:t>
            </a:r>
            <a:r>
              <a:rPr lang="en-US" altLang="ja-JP" sz="30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4</a:t>
            </a:r>
            <a:endParaRPr kumimoji="1" lang="en-US" altLang="ja-JP" sz="3000" dirty="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2570199-1843-F546-990E-ED63DC5CE0D5}"/>
              </a:ext>
            </a:extLst>
          </p:cNvPr>
          <p:cNvSpPr txBox="1"/>
          <p:nvPr/>
        </p:nvSpPr>
        <p:spPr>
          <a:xfrm>
            <a:off x="344488" y="1844824"/>
            <a:ext cx="371209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１つのディレクトリー内に，</a:t>
            </a:r>
            <a:r>
              <a:rPr kumimoji="1" lang="en-US" altLang="ja-JP" sz="20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MD</a:t>
            </a:r>
            <a:r>
              <a:rPr kumimoji="1" lang="ja-JP" altLang="en-US" sz="20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結果である</a:t>
            </a:r>
            <a:r>
              <a:rPr kumimoji="1" lang="en-US" altLang="ja-JP" sz="20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out****.</a:t>
            </a:r>
            <a:r>
              <a:rPr kumimoji="1" lang="en-US" altLang="ja-JP" sz="2000" dirty="0" err="1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xyz</a:t>
            </a:r>
            <a:r>
              <a:rPr lang="ja-JP" altLang="en-US" sz="20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ファイル群をまとめる．</a:t>
            </a:r>
            <a:r>
              <a:rPr lang="en-US" altLang="ja-JP" sz="20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OVITO</a:t>
            </a:r>
            <a:r>
              <a:rPr lang="ja-JP" altLang="en-US" sz="20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で，どれか１つのファイルを</a:t>
            </a:r>
            <a:r>
              <a:rPr lang="en-US" altLang="ja-JP" sz="2000" dirty="0" err="1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File</a:t>
            </a:r>
            <a:r>
              <a:rPr lang="en-US" altLang="ja-JP" sz="2000" dirty="0" err="1">
                <a:latin typeface="Hiragino Maru Gothic Pro W4" panose="020F0400000000000000" pitchFamily="34" charset="-128"/>
                <a:ea typeface="Hiragino Maru Gothic Pro W4" panose="020F0400000000000000" pitchFamily="34" charset="-128"/>
                <a:sym typeface="Wingdings" pitchFamily="2" charset="2"/>
              </a:rPr>
              <a:t>load</a:t>
            </a:r>
            <a:r>
              <a:rPr lang="en-US" altLang="ja-JP" sz="20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  <a:sym typeface="Wingdings" pitchFamily="2" charset="2"/>
              </a:rPr>
              <a:t> file </a:t>
            </a:r>
            <a:r>
              <a:rPr lang="ja-JP" altLang="en-US" sz="2000">
                <a:latin typeface="Hiragino Maru Gothic Pro W4" panose="020F0400000000000000" pitchFamily="34" charset="-128"/>
                <a:ea typeface="Hiragino Maru Gothic Pro W4" panose="020F0400000000000000" pitchFamily="34" charset="-128"/>
                <a:sym typeface="Wingdings" pitchFamily="2" charset="2"/>
              </a:rPr>
              <a:t>で読みこみ，</a:t>
            </a:r>
            <a:r>
              <a:rPr lang="en-US" altLang="ja-JP" sz="20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  <a:sym typeface="Wingdings" pitchFamily="2" charset="2"/>
              </a:rPr>
              <a:t>auto-generate</a:t>
            </a:r>
            <a:r>
              <a:rPr lang="ja-JP" altLang="en-US" sz="2000">
                <a:latin typeface="Hiragino Maru Gothic Pro W4" panose="020F0400000000000000" pitchFamily="34" charset="-128"/>
                <a:ea typeface="Hiragino Maru Gothic Pro W4" panose="020F0400000000000000" pitchFamily="34" charset="-128"/>
                <a:sym typeface="Wingdings" pitchFamily="2" charset="2"/>
              </a:rPr>
              <a:t>にチェックを入れると，連番ファイルが全て読み込まれる．ファイルのフォーマットがあっていないなら，</a:t>
            </a:r>
            <a:r>
              <a:rPr lang="en-US" altLang="ja-JP" sz="20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  <a:sym typeface="Wingdings" pitchFamily="2" charset="2"/>
              </a:rPr>
              <a:t>Edit Column matting</a:t>
            </a:r>
            <a:r>
              <a:rPr lang="ja-JP" altLang="en-US" sz="2000">
                <a:latin typeface="Hiragino Maru Gothic Pro W4" panose="020F0400000000000000" pitchFamily="34" charset="-128"/>
                <a:ea typeface="Hiragino Maru Gothic Pro W4" panose="020F0400000000000000" pitchFamily="34" charset="-128"/>
                <a:sym typeface="Wingdings" pitchFamily="2" charset="2"/>
              </a:rPr>
              <a:t>で右のようにセットすると良い．</a:t>
            </a:r>
            <a:r>
              <a:rPr lang="en-US" altLang="ja-JP" sz="20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  <a:sym typeface="Wingdings" pitchFamily="2" charset="2"/>
              </a:rPr>
              <a:t>Add modification</a:t>
            </a:r>
            <a:r>
              <a:rPr lang="ja-JP" altLang="en-US" sz="2000">
                <a:latin typeface="Hiragino Maru Gothic Pro W4" panose="020F0400000000000000" pitchFamily="34" charset="-128"/>
                <a:ea typeface="Hiragino Maru Gothic Pro W4" panose="020F0400000000000000" pitchFamily="34" charset="-128"/>
                <a:sym typeface="Wingdings" pitchFamily="2" charset="2"/>
              </a:rPr>
              <a:t>で</a:t>
            </a:r>
            <a:r>
              <a:rPr lang="en-US" altLang="ja-JP" sz="20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  <a:sym typeface="Wingdings" pitchFamily="2" charset="2"/>
              </a:rPr>
              <a:t>color coding</a:t>
            </a:r>
            <a:r>
              <a:rPr lang="ja-JP" altLang="en-US" sz="2000">
                <a:latin typeface="Hiragino Maru Gothic Pro W4" panose="020F0400000000000000" pitchFamily="34" charset="-128"/>
                <a:ea typeface="Hiragino Maru Gothic Pro W4" panose="020F0400000000000000" pitchFamily="34" charset="-128"/>
                <a:sym typeface="Wingdings" pitchFamily="2" charset="2"/>
              </a:rPr>
              <a:t>を選ぶと原子毎に温度</a:t>
            </a:r>
            <a:r>
              <a:rPr lang="en-US" altLang="ja-JP" sz="20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  <a:sym typeface="Wingdings" pitchFamily="2" charset="2"/>
              </a:rPr>
              <a:t>(</a:t>
            </a:r>
            <a:r>
              <a:rPr lang="ja-JP" altLang="en-US" sz="2000">
                <a:latin typeface="Hiragino Maru Gothic Pro W4" panose="020F0400000000000000" pitchFamily="34" charset="-128"/>
                <a:ea typeface="Hiragino Maru Gothic Pro W4" panose="020F0400000000000000" pitchFamily="34" charset="-128"/>
                <a:sym typeface="Wingdings" pitchFamily="2" charset="2"/>
              </a:rPr>
              <a:t>運動エネルギー）を表示できる．</a:t>
            </a:r>
            <a:endParaRPr kumimoji="1" lang="ja-JP" altLang="en-US" sz="2000" dirty="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pic>
        <p:nvPicPr>
          <p:cNvPr id="5" name="図 4" descr="テーブル&#10;&#10;自動的に生成された説明">
            <a:extLst>
              <a:ext uri="{FF2B5EF4-FFF2-40B4-BE49-F238E27FC236}">
                <a16:creationId xmlns:a16="http://schemas.microsoft.com/office/drawing/2014/main" id="{7EB413DA-911F-317A-CBD4-9BCF5DBCA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6936" y="1991584"/>
            <a:ext cx="4762919" cy="4151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123970"/>
      </p:ext>
    </p:extLst>
  </p:cSld>
  <p:clrMapOvr>
    <a:masterClrMapping/>
  </p:clrMapOvr>
  <p:transition>
    <p:blinds dir="vert"/>
  </p:transition>
</p:sld>
</file>

<file path=ppt/theme/theme1.xml><?xml version="1.0" encoding="utf-8"?>
<a:theme xmlns:a="http://schemas.openxmlformats.org/drawingml/2006/main" name="新しいプレゼンテーション">
  <a:themeElements>
    <a:clrScheme name="新しいプレゼンテーショ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新しいプレゼンテーション">
      <a:majorFont>
        <a:latin typeface="Osaka"/>
        <a:ea typeface="Osaka"/>
        <a:cs typeface="Osaka"/>
      </a:majorFont>
      <a:minorFont>
        <a:latin typeface="Osaka"/>
        <a:ea typeface="Osaka"/>
        <a:cs typeface="Osak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" pitchFamily="-112" charset="0"/>
            <a:ea typeface="ＭＳ Ｐゴシック" pitchFamily="-112" charset="-128"/>
            <a:cs typeface="ＭＳ Ｐゴシック" pitchFamily="-112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" pitchFamily="-112" charset="0"/>
            <a:ea typeface="ＭＳ Ｐゴシック" pitchFamily="-112" charset="-128"/>
            <a:cs typeface="ＭＳ Ｐゴシック" pitchFamily="-112" charset="-128"/>
          </a:defRPr>
        </a:defPPr>
      </a:lstStyle>
    </a:lnDef>
  </a:objectDefaults>
  <a:extraClrSchemeLst>
    <a:extraClrScheme>
      <a:clrScheme name="新しいプレゼンテーショ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PBG4-HD:Applications:Microsoft Office X:テンプレート:プレゼンテーション:デザイン:新しいプレゼンテーション</Template>
  <TotalTime>1900</TotalTime>
  <Words>365</Words>
  <Application>Microsoft Macintosh PowerPoint</Application>
  <PresentationFormat>A4 210 x 297 mm</PresentationFormat>
  <Paragraphs>39</Paragraphs>
  <Slides>4</Slides>
  <Notes>4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Hiragino Maru Gothic Pro W4</vt:lpstr>
      <vt:lpstr>Osaka</vt:lpstr>
      <vt:lpstr>Times</vt:lpstr>
      <vt:lpstr>新しいプレゼンテーション</vt:lpstr>
      <vt:lpstr>数式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NITech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Shuji Ogata</dc:creator>
  <cp:lastModifiedBy>尾形　修司</cp:lastModifiedBy>
  <cp:revision>222</cp:revision>
  <dcterms:created xsi:type="dcterms:W3CDTF">2010-08-04T00:34:44Z</dcterms:created>
  <dcterms:modified xsi:type="dcterms:W3CDTF">2025-05-12T08:00:28Z</dcterms:modified>
</cp:coreProperties>
</file>